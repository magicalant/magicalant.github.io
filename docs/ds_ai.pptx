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1" r:id="rId7"/>
    <p:sldId id="262" r:id="rId8"/>
    <p:sldId id="263" r:id="rId9"/>
    <p:sldId id="264" r:id="rId10"/>
    <p:sldId id="265" r:id="rId11"/>
    <p:sldId id="266" r:id="rId12"/>
    <p:sldId id="260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65"/>
    <p:restoredTop sz="94663"/>
  </p:normalViewPr>
  <p:slideViewPr>
    <p:cSldViewPr snapToGrid="0" snapToObjects="1">
      <p:cViewPr varScale="1">
        <p:scale>
          <a:sx n="121" d="100"/>
          <a:sy n="121" d="100"/>
        </p:scale>
        <p:origin x="3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MagicalAnt/AI_DS.git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1810512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rPr dirty="0"/>
              <a:t>Robustness of CNNs to Test-Time</a:t>
            </a:r>
            <a:br>
              <a:rPr dirty="0"/>
            </a:br>
            <a:r>
              <a:rPr dirty="0"/>
              <a:t>Image Degradation on Fashion-MNIST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7494" y="3675889"/>
            <a:ext cx="5237011" cy="20005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05050"/>
                </a:solidFill>
              </a:defRPr>
            </a:pPr>
            <a:r>
              <a:rPr sz="2800" b="1" dirty="0">
                <a:solidFill>
                  <a:schemeClr val="tx2"/>
                </a:solidFill>
              </a:rPr>
              <a:t>Custom 4-Layer CNN vs ResNet-18</a:t>
            </a:r>
            <a:endParaRPr lang="en-US" sz="2800" b="1" dirty="0">
              <a:solidFill>
                <a:schemeClr val="tx2"/>
              </a:solidFill>
            </a:endParaRPr>
          </a:p>
          <a:p>
            <a:pPr algn="ctr">
              <a:defRPr sz="2400">
                <a:solidFill>
                  <a:srgbClr val="505050"/>
                </a:solidFill>
              </a:defRPr>
            </a:pPr>
            <a:br>
              <a:rPr dirty="0">
                <a:solidFill>
                  <a:schemeClr val="tx2"/>
                </a:solidFill>
              </a:rPr>
            </a:br>
            <a:r>
              <a:rPr lang="en-US" b="1" dirty="0">
                <a:solidFill>
                  <a:schemeClr val="tx2"/>
                </a:solidFill>
              </a:rPr>
              <a:t>Anthony Huang</a:t>
            </a:r>
          </a:p>
          <a:p>
            <a:pPr algn="ctr">
              <a:defRPr sz="2400">
                <a:solidFill>
                  <a:srgbClr val="505050"/>
                </a:solidFill>
              </a:defRPr>
            </a:pPr>
            <a:endParaRPr lang="en-US" b="1" dirty="0">
              <a:solidFill>
                <a:schemeClr val="tx2"/>
              </a:solidFill>
            </a:endParaRPr>
          </a:p>
          <a:p>
            <a:pPr algn="ctr">
              <a:defRPr sz="2400">
                <a:solidFill>
                  <a:srgbClr val="505050"/>
                </a:solidFill>
              </a:defRPr>
            </a:pPr>
            <a:r>
              <a:rPr b="1" dirty="0">
                <a:solidFill>
                  <a:schemeClr val="tx2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66690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Background: </a:t>
            </a:r>
            <a:r>
              <a:rPr lang="en-US" dirty="0"/>
              <a:t>Kaggle </a:t>
            </a:r>
            <a:r>
              <a:rPr dirty="0"/>
              <a:t>Fashion-MNIST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1288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2440" y="1592580"/>
            <a:ext cx="112471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400" dirty="0"/>
              <a:t>60,000 training images + 10,000 test images</a:t>
            </a:r>
          </a:p>
          <a:p>
            <a:pPr marL="342900" indent="-342900">
              <a:spcAft>
                <a:spcPts val="800"/>
              </a:spcAft>
              <a:buFont typeface="Wingdings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400" dirty="0"/>
              <a:t>10 clothing classes (T-shirt, Trouser, Pullover, Dress, Coat, Sandal, Shirt, Sneaker, Bag, Ankle boot)</a:t>
            </a:r>
          </a:p>
          <a:p>
            <a:pPr marL="342900" indent="-342900">
              <a:spcAft>
                <a:spcPts val="800"/>
              </a:spcAft>
              <a:buFont typeface="Wingdings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400" dirty="0"/>
              <a:t>28×28 grayscale images</a:t>
            </a:r>
          </a:p>
          <a:p>
            <a:pPr marL="342900" indent="-342900">
              <a:spcAft>
                <a:spcPts val="800"/>
              </a:spcAft>
              <a:buFont typeface="Wingdings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400" dirty="0"/>
              <a:t>Small enough for fast experimentation, complex enough to reveal generalization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53936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Research Question &amp;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1288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765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400" dirty="0"/>
              <a:t>Research Question: How does test-time image degradation affect CNN performance?</a:t>
            </a:r>
            <a:endParaRPr lang="en-US" sz="2400" dirty="0"/>
          </a:p>
          <a:p>
            <a:pPr marL="342900" indent="-342900">
              <a:spcAft>
                <a:spcPts val="800"/>
              </a:spcAft>
              <a:buFont typeface="Wingdings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400" dirty="0" err="1"/>
              <a:t>Train:Val:Test</a:t>
            </a:r>
            <a:r>
              <a:rPr lang="en-US" sz="2400" dirty="0"/>
              <a:t> = 7:2:1</a:t>
            </a:r>
          </a:p>
          <a:p>
            <a:pPr marL="342900" indent="-342900">
              <a:spcAft>
                <a:spcPts val="800"/>
              </a:spcAft>
              <a:buFont typeface="Wingdings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400" dirty="0"/>
              <a:t>40 epochs, early stop if validation loss does not improve for 5 consecutive epochs</a:t>
            </a:r>
          </a:p>
          <a:p>
            <a:pPr marL="342900" indent="-342900">
              <a:spcAft>
                <a:spcPts val="800"/>
              </a:spcAft>
              <a:buFont typeface="Wingdings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400" dirty="0"/>
              <a:t>Degradation: Gaussian Blur (kernel=5) + High Contrast (factor=2.5)</a:t>
            </a:r>
          </a:p>
          <a:p>
            <a:pPr marL="342900" indent="-342900">
              <a:spcAft>
                <a:spcPts val="800"/>
              </a:spcAft>
              <a:buFont typeface="Wingdings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400" dirty="0"/>
              <a:t>Six degradation levels</a:t>
            </a:r>
            <a:r>
              <a:rPr lang="en-US" sz="2400" dirty="0"/>
              <a:t> on Test set</a:t>
            </a:r>
            <a:r>
              <a:rPr sz="2400" dirty="0"/>
              <a:t>: 0% (clean), 10%, 30%, 50%, 70%, 100%</a:t>
            </a:r>
            <a:endParaRPr lang="en-US" sz="2400" dirty="0"/>
          </a:p>
          <a:p>
            <a:pPr marL="342900" indent="-342900">
              <a:spcAft>
                <a:spcPts val="800"/>
              </a:spcAft>
              <a:buFont typeface="Wingdings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400" dirty="0"/>
              <a:t>Both model s</a:t>
            </a:r>
            <a:r>
              <a:rPr sz="2400" dirty="0"/>
              <a:t>hared degradation </a:t>
            </a:r>
            <a:r>
              <a:rPr lang="en-US" sz="2400" dirty="0"/>
              <a:t>test set</a:t>
            </a:r>
            <a:r>
              <a:rPr sz="2400" dirty="0"/>
              <a:t> for fair model comparison</a:t>
            </a:r>
          </a:p>
          <a:p>
            <a:pPr marL="342900" indent="-342900">
              <a:spcAft>
                <a:spcPts val="800"/>
              </a:spcAft>
              <a:buFont typeface="Wingdings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400" dirty="0"/>
              <a:t>Evaluation metrics: Accuracy,</a:t>
            </a:r>
            <a:r>
              <a:rPr lang="en-US" sz="2400" dirty="0"/>
              <a:t> Loss, </a:t>
            </a:r>
            <a:r>
              <a:rPr sz="2400" dirty="0"/>
              <a:t> Predictive Entropy, Confusion Matrix, ROC, t-SNE</a:t>
            </a:r>
            <a:endParaRPr lang="en-US" sz="2400" dirty="0"/>
          </a:p>
          <a:p>
            <a:pPr marL="342900" indent="-342900">
              <a:spcAft>
                <a:spcPts val="800"/>
              </a:spcAft>
              <a:buFont typeface="Wingdings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CN" sz="2400" dirty="0"/>
              <a:t>GitHub: </a:t>
            </a:r>
            <a:r>
              <a:rPr lang="en-US" sz="2400" dirty="0">
                <a:hlinkClick r:id="rId2"/>
              </a:rPr>
              <a:t>https://github.com/MagicalAnt/AI_DS.git</a:t>
            </a:r>
            <a:endParaRPr lang="en-US" sz="2400" dirty="0"/>
          </a:p>
        </p:txBody>
      </p:sp>
      <p:pic>
        <p:nvPicPr>
          <p:cNvPr id="6" name="Picture 5" descr="A collage of images of a person's body&#10;&#10;AI-generated content may be incorrect.">
            <a:extLst>
              <a:ext uri="{FF2B5EF4-FFF2-40B4-BE49-F238E27FC236}">
                <a16:creationId xmlns:a16="http://schemas.microsoft.com/office/drawing/2014/main" id="{4C4CC59C-259A-D462-44BD-E513945EA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191" y="4954270"/>
            <a:ext cx="795453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53549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Models: Custom CNN vs ResNet-18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1288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 diagram of a structure&#10;&#10;AI-generated content may be incorrect.">
            <a:extLst>
              <a:ext uri="{FF2B5EF4-FFF2-40B4-BE49-F238E27FC236}">
                <a16:creationId xmlns:a16="http://schemas.microsoft.com/office/drawing/2014/main" id="{57770592-DEF7-AA83-9F2A-39020A7E6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538" y="2530700"/>
            <a:ext cx="5857462" cy="4170514"/>
          </a:xfrm>
          <a:prstGeom prst="rect">
            <a:avLst/>
          </a:prstGeom>
        </p:spPr>
      </p:pic>
      <p:pic>
        <p:nvPicPr>
          <p:cNvPr id="8" name="Picture 7" descr="A diagram of a custom 4-layer cnn architecture&#10;&#10;AI-generated content may be incorrect.">
            <a:extLst>
              <a:ext uri="{FF2B5EF4-FFF2-40B4-BE49-F238E27FC236}">
                <a16:creationId xmlns:a16="http://schemas.microsoft.com/office/drawing/2014/main" id="{FD1523A3-3040-95A5-8BAC-37626D38A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5" y="2523080"/>
            <a:ext cx="6230528" cy="398753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D41CBAE-20B1-3A14-CA84-08B6C6CE9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031102"/>
              </p:ext>
            </p:extLst>
          </p:nvPr>
        </p:nvGraphicFramePr>
        <p:xfrm>
          <a:off x="274320" y="1044800"/>
          <a:ext cx="11730854" cy="181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5427">
                  <a:extLst>
                    <a:ext uri="{9D8B030D-6E8A-4147-A177-3AD203B41FA5}">
                      <a16:colId xmlns:a16="http://schemas.microsoft.com/office/drawing/2014/main" val="1889408633"/>
                    </a:ext>
                  </a:extLst>
                </a:gridCol>
                <a:gridCol w="5865427">
                  <a:extLst>
                    <a:ext uri="{9D8B030D-6E8A-4147-A177-3AD203B41FA5}">
                      <a16:colId xmlns:a16="http://schemas.microsoft.com/office/drawing/2014/main" val="3942303958"/>
                    </a:ext>
                  </a:extLst>
                </a:gridCol>
              </a:tblGrid>
              <a:tr h="1334264"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000" dirty="0"/>
                        <a:t>Custom 4-Layer CNN (249,162 parameters)</a:t>
                      </a:r>
                    </a:p>
                    <a:p>
                      <a:pPr>
                        <a:spcAft>
                          <a:spcPts val="800"/>
                        </a:spcAf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000" dirty="0"/>
                        <a:t>    - Simple architecture, 4 conv layers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000" dirty="0"/>
                        <a:t>    - </a:t>
                      </a:r>
                      <a:r>
                        <a:rPr lang="en-US" sz="2000" dirty="0" err="1"/>
                        <a:t>CrossEntropyLoss</a:t>
                      </a:r>
                      <a:r>
                        <a:rPr lang="en-US" sz="2000" dirty="0"/>
                        <a:t> + Classifier + Early stopping + weight decay  to prevent overfitting</a:t>
                      </a:r>
                      <a:endParaRPr lang="en-C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800"/>
                        </a:spcAf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000" dirty="0"/>
                        <a:t>ResNet-18 (</a:t>
                      </a:r>
                      <a:r>
                        <a:rPr lang="en-CN" sz="2000" b="0" kern="1200" dirty="0">
                          <a:solidFill>
                            <a:schemeClr val="tx1"/>
                          </a:solidFill>
                          <a:effectLst/>
                        </a:rPr>
                        <a:t>11,175,370 parameters, 45x )</a:t>
                      </a:r>
                      <a:endParaRPr lang="en-US" sz="2000" b="0" dirty="0"/>
                    </a:p>
                    <a:p>
                      <a:pPr>
                        <a:spcAft>
                          <a:spcPts val="800"/>
                        </a:spcAf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000" dirty="0"/>
                        <a:t>  - Pretrained on ImageNet, 18 layers with residual con</a:t>
                      </a:r>
                      <a:endParaRPr lang="en-CN" sz="200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2000" dirty="0"/>
                        <a:t>  - </a:t>
                      </a:r>
                      <a:r>
                        <a:rPr lang="en-US" sz="2000" dirty="0" err="1"/>
                        <a:t>CrossEntropyLoss</a:t>
                      </a:r>
                      <a:r>
                        <a:rPr lang="en-US" sz="2000" dirty="0"/>
                        <a:t> + simple Classifier + Early stopping + weight decay to prevent overfitting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 </a:t>
                      </a:r>
                      <a:endParaRPr lang="en-C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2370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EB6A9-336A-9F06-4E50-44EBBEF9B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9F0B81-4A7A-1043-371F-D607FFAFA9EF}"/>
              </a:ext>
            </a:extLst>
          </p:cNvPr>
          <p:cNvSpPr txBox="1"/>
          <p:nvPr/>
        </p:nvSpPr>
        <p:spPr>
          <a:xfrm>
            <a:off x="274320" y="182880"/>
            <a:ext cx="35528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dirty="0"/>
              <a:t>Dataset Balance Check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A33359-1CAC-9819-EF2F-C037E673E812}"/>
              </a:ext>
            </a:extLst>
          </p:cNvPr>
          <p:cNvSpPr/>
          <p:nvPr/>
        </p:nvSpPr>
        <p:spPr>
          <a:xfrm>
            <a:off x="274320" y="868680"/>
            <a:ext cx="1161288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 graph of different colors&#10;&#10;AI-generated content may be incorrect.">
            <a:extLst>
              <a:ext uri="{FF2B5EF4-FFF2-40B4-BE49-F238E27FC236}">
                <a16:creationId xmlns:a16="http://schemas.microsoft.com/office/drawing/2014/main" id="{5FD73477-9F7E-0ED2-CE35-0F927B103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36" y="1371600"/>
            <a:ext cx="10400272" cy="461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91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072479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Training Dynamics</a:t>
            </a:r>
            <a:r>
              <a:rPr lang="en-US" dirty="0"/>
              <a:t>: </a:t>
            </a:r>
            <a:r>
              <a:rPr dirty="0"/>
              <a:t>Accuracy vs Degradation</a:t>
            </a:r>
            <a:r>
              <a:rPr lang="en-US" dirty="0"/>
              <a:t> (both triggered early stop)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1288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ustom_cnn_curve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043" y="1013907"/>
            <a:ext cx="7541110" cy="2685503"/>
          </a:xfrm>
          <a:prstGeom prst="rect">
            <a:avLst/>
          </a:prstGeom>
        </p:spPr>
      </p:pic>
      <p:pic>
        <p:nvPicPr>
          <p:cNvPr id="5" name="Picture 4" descr="resnet18_curves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043" y="3973902"/>
            <a:ext cx="7598404" cy="27012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4DDD4E-0189-E2F0-758C-35C868A4699B}"/>
              </a:ext>
            </a:extLst>
          </p:cNvPr>
          <p:cNvSpPr txBox="1"/>
          <p:nvPr/>
        </p:nvSpPr>
        <p:spPr>
          <a:xfrm>
            <a:off x="9698182" y="2171992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Custom CNN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6BF38B-2EB3-8641-5416-70E2E9657AA8}"/>
              </a:ext>
            </a:extLst>
          </p:cNvPr>
          <p:cNvSpPr txBox="1"/>
          <p:nvPr/>
        </p:nvSpPr>
        <p:spPr>
          <a:xfrm>
            <a:off x="9698181" y="5139845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Resnet-18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082161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Accuracy </a:t>
            </a:r>
            <a:r>
              <a:rPr lang="en-US" dirty="0"/>
              <a:t>vs Degradation: accuracy declines as d</a:t>
            </a:r>
            <a:r>
              <a:rPr dirty="0"/>
              <a:t>egradation</a:t>
            </a:r>
            <a:r>
              <a:rPr lang="en-US" dirty="0"/>
              <a:t> level goes up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1288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ustom_cnn_accuracy_vs_degra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07817"/>
            <a:ext cx="5669280" cy="3442366"/>
          </a:xfrm>
          <a:prstGeom prst="rect">
            <a:avLst/>
          </a:prstGeom>
        </p:spPr>
      </p:pic>
      <p:pic>
        <p:nvPicPr>
          <p:cNvPr id="5" name="Picture 4" descr="resnet18_accuracy_vs_degra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07817"/>
            <a:ext cx="5669280" cy="34423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61EABB-017C-72EE-DF2C-6CFED6457E10}"/>
              </a:ext>
            </a:extLst>
          </p:cNvPr>
          <p:cNvSpPr txBox="1"/>
          <p:nvPr/>
        </p:nvSpPr>
        <p:spPr>
          <a:xfrm>
            <a:off x="2360815" y="5354333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Custom CNN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170EA9-AF26-F8BF-660F-63E8FE64EE03}"/>
              </a:ext>
            </a:extLst>
          </p:cNvPr>
          <p:cNvSpPr txBox="1"/>
          <p:nvPr/>
        </p:nvSpPr>
        <p:spPr>
          <a:xfrm>
            <a:off x="8248997" y="5354333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Resnet-18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03358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Predictive Entropy: Model Uncertainty Increases with Degradation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1288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ustom_cnn_entropy_vs_degra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82096"/>
            <a:ext cx="5669280" cy="3516389"/>
          </a:xfrm>
          <a:prstGeom prst="rect">
            <a:avLst/>
          </a:prstGeom>
        </p:spPr>
      </p:pic>
      <p:pic>
        <p:nvPicPr>
          <p:cNvPr id="5" name="Picture 4" descr="resnet18_entropy_vs_degra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82095"/>
            <a:ext cx="5669280" cy="35163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4366EF-2F62-6E67-DE07-33A6645BD678}"/>
              </a:ext>
            </a:extLst>
          </p:cNvPr>
          <p:cNvSpPr txBox="1"/>
          <p:nvPr/>
        </p:nvSpPr>
        <p:spPr>
          <a:xfrm>
            <a:off x="2851618" y="5804654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Custom CNN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3C87B-571C-44C5-D39F-690AEB730905}"/>
              </a:ext>
            </a:extLst>
          </p:cNvPr>
          <p:cNvSpPr txBox="1"/>
          <p:nvPr/>
        </p:nvSpPr>
        <p:spPr>
          <a:xfrm>
            <a:off x="8739800" y="5804654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Resnet-18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3863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Confusion Matrices: Clean vs</a:t>
            </a:r>
            <a:r>
              <a:rPr lang="en-US" dirty="0"/>
              <a:t> 30% vs</a:t>
            </a:r>
            <a:r>
              <a:rPr dirty="0"/>
              <a:t> 100% Degradation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1288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ustom_cnn_confusion_matrix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66" y="972025"/>
            <a:ext cx="3053290" cy="2773864"/>
          </a:xfrm>
          <a:prstGeom prst="rect">
            <a:avLst/>
          </a:prstGeom>
        </p:spPr>
      </p:pic>
      <p:pic>
        <p:nvPicPr>
          <p:cNvPr id="5" name="Picture 4" descr="resnet18_confusion_matrix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70" y="3917243"/>
            <a:ext cx="3089228" cy="2806513"/>
          </a:xfrm>
          <a:prstGeom prst="rect">
            <a:avLst/>
          </a:prstGeom>
        </p:spPr>
      </p:pic>
      <p:pic>
        <p:nvPicPr>
          <p:cNvPr id="6" name="Picture 5" descr="custom_cnn_confusion_matrix_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428" y="878323"/>
            <a:ext cx="3180582" cy="2867566"/>
          </a:xfrm>
          <a:prstGeom prst="rect">
            <a:avLst/>
          </a:prstGeom>
        </p:spPr>
      </p:pic>
      <p:pic>
        <p:nvPicPr>
          <p:cNvPr id="7" name="Picture 6" descr="resnet18_confusion_matrix_1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9578" y="3982525"/>
            <a:ext cx="3156432" cy="2867566"/>
          </a:xfrm>
          <a:prstGeom prst="rect">
            <a:avLst/>
          </a:prstGeom>
        </p:spPr>
      </p:pic>
      <p:pic>
        <p:nvPicPr>
          <p:cNvPr id="9" name="Picture 8" descr="A graph with blue squares and numbers&#10;&#10;AI-generated content may be incorrect.">
            <a:extLst>
              <a:ext uri="{FF2B5EF4-FFF2-40B4-BE49-F238E27FC236}">
                <a16:creationId xmlns:a16="http://schemas.microsoft.com/office/drawing/2014/main" id="{B77DAFDA-0BDE-9C10-6DEF-0E627C92A9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2228" y="938699"/>
            <a:ext cx="3089228" cy="2807867"/>
          </a:xfrm>
          <a:prstGeom prst="rect">
            <a:avLst/>
          </a:prstGeom>
        </p:spPr>
      </p:pic>
      <p:pic>
        <p:nvPicPr>
          <p:cNvPr id="11" name="Picture 10" descr="A graph of a diagram&#10;&#10;AI-generated content may be incorrect.">
            <a:extLst>
              <a:ext uri="{FF2B5EF4-FFF2-40B4-BE49-F238E27FC236}">
                <a16:creationId xmlns:a16="http://schemas.microsoft.com/office/drawing/2014/main" id="{AEB316CD-906C-FF2F-44AB-3D452783B9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9024" y="3982525"/>
            <a:ext cx="3089228" cy="28078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29E93E1-2040-C9D5-B587-17AEB3549FF7}"/>
              </a:ext>
            </a:extLst>
          </p:cNvPr>
          <p:cNvSpPr txBox="1"/>
          <p:nvPr/>
        </p:nvSpPr>
        <p:spPr>
          <a:xfrm>
            <a:off x="10799618" y="2285206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Custom CNN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BF1356-0107-EB9D-B59A-BAE4E9712639}"/>
              </a:ext>
            </a:extLst>
          </p:cNvPr>
          <p:cNvSpPr txBox="1"/>
          <p:nvPr/>
        </p:nvSpPr>
        <p:spPr>
          <a:xfrm>
            <a:off x="10982498" y="5089597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Resnet-18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41F6A3-953B-AA50-2F57-58192F80C464}"/>
              </a:ext>
            </a:extLst>
          </p:cNvPr>
          <p:cNvSpPr txBox="1"/>
          <p:nvPr/>
        </p:nvSpPr>
        <p:spPr>
          <a:xfrm>
            <a:off x="957894" y="3646900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0% degradation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D41B7F-661B-BA69-A80B-AF098550B8AC}"/>
              </a:ext>
            </a:extLst>
          </p:cNvPr>
          <p:cNvSpPr txBox="1"/>
          <p:nvPr/>
        </p:nvSpPr>
        <p:spPr>
          <a:xfrm>
            <a:off x="4825638" y="3718108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30% degradation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6577F2-887A-366F-B6FD-DB86E60D2798}"/>
              </a:ext>
            </a:extLst>
          </p:cNvPr>
          <p:cNvSpPr txBox="1"/>
          <p:nvPr/>
        </p:nvSpPr>
        <p:spPr>
          <a:xfrm>
            <a:off x="8660655" y="3755532"/>
            <a:ext cx="249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100% degradation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8445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ROC Curves: Discrimination Ability Drops Sharply</a:t>
            </a:r>
            <a:r>
              <a:rPr lang="en-US" dirty="0"/>
              <a:t> as degradation goes up (AUC)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1288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ustom_cnn_roc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1"/>
            <a:ext cx="3033656" cy="2479668"/>
          </a:xfrm>
          <a:prstGeom prst="rect">
            <a:avLst/>
          </a:prstGeom>
        </p:spPr>
      </p:pic>
      <p:pic>
        <p:nvPicPr>
          <p:cNvPr id="5" name="Picture 4" descr="resnet18_roc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4058770"/>
            <a:ext cx="3033655" cy="2479668"/>
          </a:xfrm>
          <a:prstGeom prst="rect">
            <a:avLst/>
          </a:prstGeom>
        </p:spPr>
      </p:pic>
      <p:pic>
        <p:nvPicPr>
          <p:cNvPr id="6" name="Picture 5" descr="custom_cnn_roc_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5812" y="1246750"/>
            <a:ext cx="3033656" cy="2479669"/>
          </a:xfrm>
          <a:prstGeom prst="rect">
            <a:avLst/>
          </a:prstGeom>
        </p:spPr>
      </p:pic>
      <p:pic>
        <p:nvPicPr>
          <p:cNvPr id="7" name="Picture 6" descr="resnet18_roc_1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5812" y="4058770"/>
            <a:ext cx="3033655" cy="2479668"/>
          </a:xfrm>
          <a:prstGeom prst="rect">
            <a:avLst/>
          </a:prstGeom>
        </p:spPr>
      </p:pic>
      <p:pic>
        <p:nvPicPr>
          <p:cNvPr id="9" name="Picture 8" descr="A graph of a graph&#10;&#10;AI-generated content may be incorrect.">
            <a:extLst>
              <a:ext uri="{FF2B5EF4-FFF2-40B4-BE49-F238E27FC236}">
                <a16:creationId xmlns:a16="http://schemas.microsoft.com/office/drawing/2014/main" id="{767B8A2C-9281-2148-D66D-DAF1E80F67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4080" y="1188721"/>
            <a:ext cx="3035627" cy="2479669"/>
          </a:xfrm>
          <a:prstGeom prst="rect">
            <a:avLst/>
          </a:prstGeom>
        </p:spPr>
      </p:pic>
      <p:pic>
        <p:nvPicPr>
          <p:cNvPr id="11" name="Picture 10" descr="A graph of a curve&#10;&#10;AI-generated content may be incorrect.">
            <a:extLst>
              <a:ext uri="{FF2B5EF4-FFF2-40B4-BE49-F238E27FC236}">
                <a16:creationId xmlns:a16="http://schemas.microsoft.com/office/drawing/2014/main" id="{D510F705-8CE5-6E50-6A9E-1C696BBD76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4079" y="4058769"/>
            <a:ext cx="3035625" cy="24796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369648F-6145-01DA-7D37-55A5EEE5F39F}"/>
              </a:ext>
            </a:extLst>
          </p:cNvPr>
          <p:cNvSpPr txBox="1"/>
          <p:nvPr/>
        </p:nvSpPr>
        <p:spPr>
          <a:xfrm>
            <a:off x="10806546" y="2486584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Custom CNN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D99250-FD02-0E19-ADC7-097716E91555}"/>
              </a:ext>
            </a:extLst>
          </p:cNvPr>
          <p:cNvSpPr txBox="1"/>
          <p:nvPr/>
        </p:nvSpPr>
        <p:spPr>
          <a:xfrm>
            <a:off x="11111346" y="5241918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Resnet-18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123877-54F3-D477-1DB3-7BF8E2311F03}"/>
              </a:ext>
            </a:extLst>
          </p:cNvPr>
          <p:cNvSpPr txBox="1"/>
          <p:nvPr/>
        </p:nvSpPr>
        <p:spPr>
          <a:xfrm>
            <a:off x="1092258" y="3684388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0% degradation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0B1BFA-A61F-B5E8-E9ED-F1B97FC8BDEF}"/>
              </a:ext>
            </a:extLst>
          </p:cNvPr>
          <p:cNvSpPr txBox="1"/>
          <p:nvPr/>
        </p:nvSpPr>
        <p:spPr>
          <a:xfrm>
            <a:off x="4960002" y="3669919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30% degradation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924C2E-18B4-D8B8-40DC-33FD7E92052A}"/>
              </a:ext>
            </a:extLst>
          </p:cNvPr>
          <p:cNvSpPr txBox="1"/>
          <p:nvPr/>
        </p:nvSpPr>
        <p:spPr>
          <a:xfrm>
            <a:off x="8911732" y="3669919"/>
            <a:ext cx="249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100% degradation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10. t-SNE: Feature Space Collapse Under Severe Degradation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1288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ustom_cnn_tsn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57" y="1003664"/>
            <a:ext cx="3492137" cy="2606402"/>
          </a:xfrm>
          <a:prstGeom prst="rect">
            <a:avLst/>
          </a:prstGeom>
        </p:spPr>
      </p:pic>
      <p:pic>
        <p:nvPicPr>
          <p:cNvPr id="5" name="Picture 4" descr="resnet18_tsne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72" y="3840479"/>
            <a:ext cx="3517322" cy="2625199"/>
          </a:xfrm>
          <a:prstGeom prst="rect">
            <a:avLst/>
          </a:prstGeom>
        </p:spPr>
      </p:pic>
      <p:pic>
        <p:nvPicPr>
          <p:cNvPr id="6" name="Picture 5" descr="custom_cnn_tsne_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0886" y="1003664"/>
            <a:ext cx="3492137" cy="2606402"/>
          </a:xfrm>
          <a:prstGeom prst="rect">
            <a:avLst/>
          </a:prstGeom>
        </p:spPr>
      </p:pic>
      <p:pic>
        <p:nvPicPr>
          <p:cNvPr id="7" name="Picture 6" descr="resnet18_tsne_1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886" y="3840480"/>
            <a:ext cx="3517322" cy="2625199"/>
          </a:xfrm>
          <a:prstGeom prst="rect">
            <a:avLst/>
          </a:prstGeom>
        </p:spPr>
      </p:pic>
      <p:pic>
        <p:nvPicPr>
          <p:cNvPr id="9" name="Picture 8" descr="A diagram of a test set&#10;&#10;AI-generated content may be incorrect.">
            <a:extLst>
              <a:ext uri="{FF2B5EF4-FFF2-40B4-BE49-F238E27FC236}">
                <a16:creationId xmlns:a16="http://schemas.microsoft.com/office/drawing/2014/main" id="{8EDBE81C-8793-061B-A195-9A95EDBDEA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9015" y="3844686"/>
            <a:ext cx="3517322" cy="2620992"/>
          </a:xfrm>
          <a:prstGeom prst="rect">
            <a:avLst/>
          </a:prstGeom>
        </p:spPr>
      </p:pic>
      <p:pic>
        <p:nvPicPr>
          <p:cNvPr id="11" name="Picture 10" descr="A diagram of different colored dots&#10;&#10;AI-generated content may be incorrect.">
            <a:extLst>
              <a:ext uri="{FF2B5EF4-FFF2-40B4-BE49-F238E27FC236}">
                <a16:creationId xmlns:a16="http://schemas.microsoft.com/office/drawing/2014/main" id="{43E47345-381C-9B19-047A-9FA7BCDCBE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8915" y="1003664"/>
            <a:ext cx="3497742" cy="26064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A689E9-0670-C331-24B1-88610C8894A3}"/>
              </a:ext>
            </a:extLst>
          </p:cNvPr>
          <p:cNvSpPr txBox="1"/>
          <p:nvPr/>
        </p:nvSpPr>
        <p:spPr>
          <a:xfrm>
            <a:off x="1125481" y="6501455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0% degradation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7362AC-BF1C-221B-2466-D68BBAC18F95}"/>
              </a:ext>
            </a:extLst>
          </p:cNvPr>
          <p:cNvSpPr txBox="1"/>
          <p:nvPr/>
        </p:nvSpPr>
        <p:spPr>
          <a:xfrm>
            <a:off x="4993225" y="6486986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50% degradation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A588BB-9004-5AA8-A4A9-292A4A6E182F}"/>
              </a:ext>
            </a:extLst>
          </p:cNvPr>
          <p:cNvSpPr txBox="1"/>
          <p:nvPr/>
        </p:nvSpPr>
        <p:spPr>
          <a:xfrm>
            <a:off x="8460046" y="6501455"/>
            <a:ext cx="249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100% degradation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4A5012-7149-2B53-0032-79E34C47DA72}"/>
              </a:ext>
            </a:extLst>
          </p:cNvPr>
          <p:cNvSpPr txBox="1"/>
          <p:nvPr/>
        </p:nvSpPr>
        <p:spPr>
          <a:xfrm>
            <a:off x="10647218" y="2474392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Custom CNN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9EEF5-54B4-C363-8E3D-19A4B3A1F4BC}"/>
              </a:ext>
            </a:extLst>
          </p:cNvPr>
          <p:cNvSpPr txBox="1"/>
          <p:nvPr/>
        </p:nvSpPr>
        <p:spPr>
          <a:xfrm>
            <a:off x="10952018" y="5229726"/>
            <a:ext cx="187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Resnet-18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05235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Comparison</a:t>
            </a:r>
            <a:r>
              <a:rPr lang="en-US" dirty="0"/>
              <a:t>: Resnet-18 shows more robustness against degradation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1288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44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417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11. Key Takeaways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12880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2440" y="1263534"/>
            <a:ext cx="11247120" cy="308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Wingdings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400" b="1" dirty="0"/>
              <a:t>Both </a:t>
            </a:r>
            <a:r>
              <a:rPr lang="en-US" sz="2400" b="1" dirty="0"/>
              <a:t>the custom CNN and Resnet-18</a:t>
            </a:r>
            <a:r>
              <a:rPr sz="2400" b="1" dirty="0"/>
              <a:t> are highly sensitive to test-time image degradation</a:t>
            </a:r>
          </a:p>
          <a:p>
            <a:pPr marL="342900" indent="-342900">
              <a:spcAft>
                <a:spcPts val="800"/>
              </a:spcAft>
              <a:buFont typeface="Wingdings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400" b="1" dirty="0"/>
              <a:t>ResNet-18 shows modest robustness advantage</a:t>
            </a:r>
            <a:r>
              <a:rPr lang="en-US" sz="2400" b="1" dirty="0"/>
              <a:t>, likely</a:t>
            </a:r>
            <a:r>
              <a:rPr sz="2400" b="1" dirty="0"/>
              <a:t> due to pretraining</a:t>
            </a:r>
            <a:r>
              <a:rPr lang="en-US" sz="2400" b="1" dirty="0"/>
              <a:t> and residual connection</a:t>
            </a:r>
            <a:endParaRPr sz="2400" b="1" dirty="0"/>
          </a:p>
          <a:p>
            <a:pPr marL="342900" indent="-342900">
              <a:spcAft>
                <a:spcPts val="800"/>
              </a:spcAft>
              <a:buFont typeface="Wingdings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400" b="1" dirty="0"/>
              <a:t>Predictive entropy rises sharply, indicating increasing uncertainty</a:t>
            </a:r>
            <a:r>
              <a:rPr lang="en-US" sz="2400" b="1" dirty="0"/>
              <a:t> with degradation</a:t>
            </a:r>
            <a:endParaRPr sz="2400" b="1" dirty="0"/>
          </a:p>
          <a:p>
            <a:pPr marL="342900" indent="-342900">
              <a:spcAft>
                <a:spcPts val="800"/>
              </a:spcAft>
              <a:buFont typeface="Wingdings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400" b="1" dirty="0"/>
              <a:t>t-SNE reveals dramatic loss of class separability at high degradation</a:t>
            </a:r>
            <a:endParaRPr lang="en-US" sz="2400" b="1" dirty="0"/>
          </a:p>
          <a:p>
            <a:pPr marL="342900" indent="-342900">
              <a:spcAft>
                <a:spcPts val="800"/>
              </a:spcAft>
              <a:buFont typeface="Wingdings" pitchFamily="2" charset="2"/>
              <a:buChar char="§"/>
              <a:defRPr sz="1800">
                <a:solidFill>
                  <a:srgbClr val="000000"/>
                </a:solidFill>
              </a:defRPr>
            </a:pPr>
            <a:r>
              <a:rPr sz="2400" b="1" dirty="0"/>
              <a:t>Future work: Data augmentation, blur-</a:t>
            </a:r>
            <a:r>
              <a:rPr lang="en-US" sz="2400" b="1" dirty="0"/>
              <a:t>contrast-resistant </a:t>
            </a:r>
            <a:r>
              <a:rPr sz="2400" b="1" dirty="0"/>
              <a:t>architectures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</TotalTime>
  <Words>444</Words>
  <Application>Microsoft Macintosh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Anthony Huang</cp:lastModifiedBy>
  <cp:revision>10</cp:revision>
  <dcterms:created xsi:type="dcterms:W3CDTF">2013-01-27T09:14:16Z</dcterms:created>
  <dcterms:modified xsi:type="dcterms:W3CDTF">2026-05-25T02:41:57Z</dcterms:modified>
  <cp:category/>
</cp:coreProperties>
</file>